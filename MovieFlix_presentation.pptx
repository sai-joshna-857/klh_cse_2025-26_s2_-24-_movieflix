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Gill Sans Light Shadowed" charset="1" panose="020B0602020104020203"/>
      <p:regular r:id="rId13"/>
    </p:embeddedFont>
    <p:embeddedFont>
      <p:font typeface="Open Sauce" charset="1" panose="00000500000000000000"/>
      <p:regular r:id="rId14"/>
    </p:embeddedFont>
    <p:embeddedFont>
      <p:font typeface="Open Sauce Bold" charset="1" panose="00000800000000000000"/>
      <p:regular r:id="rId15"/>
    </p:embeddedFont>
    <p:embeddedFont>
      <p:font typeface="Open Sauce Light" charset="1" panose="000004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jpeg" Type="http://schemas.openxmlformats.org/officeDocument/2006/relationships/image"/><Relationship Id="rId6" Target="../media/image1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3750672">
            <a:off x="8256467" y="-1251455"/>
            <a:ext cx="7069364" cy="5578371"/>
          </a:xfrm>
          <a:custGeom>
            <a:avLst/>
            <a:gdLst/>
            <a:ahLst/>
            <a:cxnLst/>
            <a:rect r="r" b="b" t="t" l="l"/>
            <a:pathLst>
              <a:path h="5578371" w="7069364">
                <a:moveTo>
                  <a:pt x="0" y="0"/>
                </a:moveTo>
                <a:lnTo>
                  <a:pt x="7069363" y="0"/>
                </a:lnTo>
                <a:lnTo>
                  <a:pt x="7069363" y="5578371"/>
                </a:lnTo>
                <a:lnTo>
                  <a:pt x="0" y="55783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750672">
            <a:off x="11840601" y="5562838"/>
            <a:ext cx="7069364" cy="5578371"/>
          </a:xfrm>
          <a:custGeom>
            <a:avLst/>
            <a:gdLst/>
            <a:ahLst/>
            <a:cxnLst/>
            <a:rect r="r" b="b" t="t" l="l"/>
            <a:pathLst>
              <a:path h="5578371" w="7069364">
                <a:moveTo>
                  <a:pt x="0" y="0"/>
                </a:moveTo>
                <a:lnTo>
                  <a:pt x="7069364" y="0"/>
                </a:lnTo>
                <a:lnTo>
                  <a:pt x="7069364" y="5578371"/>
                </a:lnTo>
                <a:lnTo>
                  <a:pt x="0" y="55783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1649327">
            <a:off x="9740182" y="-1574897"/>
            <a:ext cx="4154743" cy="6197777"/>
            <a:chOff x="0" y="0"/>
            <a:chExt cx="643678" cy="960198"/>
          </a:xfrm>
        </p:grpSpPr>
        <p:sp>
          <p:nvSpPr>
            <p:cNvPr name="Freeform 6" id="6"/>
            <p:cNvSpPr/>
            <p:nvPr/>
          </p:nvSpPr>
          <p:spPr>
            <a:xfrm flipH="false" flipV="false" rot="0">
              <a:off x="0" y="0"/>
              <a:ext cx="643678" cy="960198"/>
            </a:xfrm>
            <a:custGeom>
              <a:avLst/>
              <a:gdLst/>
              <a:ahLst/>
              <a:cxnLst/>
              <a:rect r="r" b="b" t="t" l="l"/>
              <a:pathLst>
                <a:path h="960198" w="643678">
                  <a:moveTo>
                    <a:pt x="0" y="0"/>
                  </a:moveTo>
                  <a:lnTo>
                    <a:pt x="643678" y="0"/>
                  </a:lnTo>
                  <a:lnTo>
                    <a:pt x="643678" y="960198"/>
                  </a:lnTo>
                  <a:lnTo>
                    <a:pt x="0" y="960198"/>
                  </a:lnTo>
                  <a:close/>
                </a:path>
              </a:pathLst>
            </a:custGeom>
            <a:blipFill>
              <a:blip r:embed="rId5"/>
              <a:stretch>
                <a:fillRect l="-61778" t="0" r="-61778" b="0"/>
              </a:stretch>
            </a:blipFill>
          </p:spPr>
        </p:sp>
      </p:grpSp>
      <p:grpSp>
        <p:nvGrpSpPr>
          <p:cNvPr name="Group 7" id="7"/>
          <p:cNvGrpSpPr/>
          <p:nvPr/>
        </p:nvGrpSpPr>
        <p:grpSpPr>
          <a:xfrm rot="-1649327">
            <a:off x="13284107" y="5202655"/>
            <a:ext cx="4185966" cy="6244353"/>
            <a:chOff x="0" y="0"/>
            <a:chExt cx="643678" cy="960198"/>
          </a:xfrm>
        </p:grpSpPr>
        <p:sp>
          <p:nvSpPr>
            <p:cNvPr name="Freeform 8" id="8"/>
            <p:cNvSpPr/>
            <p:nvPr/>
          </p:nvSpPr>
          <p:spPr>
            <a:xfrm flipH="false" flipV="false" rot="0">
              <a:off x="0" y="0"/>
              <a:ext cx="643678" cy="960198"/>
            </a:xfrm>
            <a:custGeom>
              <a:avLst/>
              <a:gdLst/>
              <a:ahLst/>
              <a:cxnLst/>
              <a:rect r="r" b="b" t="t" l="l"/>
              <a:pathLst>
                <a:path h="960198" w="643678">
                  <a:moveTo>
                    <a:pt x="0" y="0"/>
                  </a:moveTo>
                  <a:lnTo>
                    <a:pt x="643678" y="0"/>
                  </a:lnTo>
                  <a:lnTo>
                    <a:pt x="643678" y="960198"/>
                  </a:lnTo>
                  <a:lnTo>
                    <a:pt x="0" y="960198"/>
                  </a:lnTo>
                  <a:close/>
                </a:path>
              </a:pathLst>
            </a:custGeom>
            <a:blipFill>
              <a:blip r:embed="rId6"/>
              <a:stretch>
                <a:fillRect l="0" t="-231" r="0" b="-231"/>
              </a:stretch>
            </a:blipFill>
          </p:spPr>
        </p:sp>
      </p:grpSp>
      <p:sp>
        <p:nvSpPr>
          <p:cNvPr name="Freeform 9" id="9"/>
          <p:cNvSpPr/>
          <p:nvPr/>
        </p:nvSpPr>
        <p:spPr>
          <a:xfrm flipH="false" flipV="false" rot="3775506">
            <a:off x="15404795" y="-1429378"/>
            <a:ext cx="8484241" cy="6694837"/>
          </a:xfrm>
          <a:custGeom>
            <a:avLst/>
            <a:gdLst/>
            <a:ahLst/>
            <a:cxnLst/>
            <a:rect r="r" b="b" t="t" l="l"/>
            <a:pathLst>
              <a:path h="6694837" w="8484241">
                <a:moveTo>
                  <a:pt x="0" y="0"/>
                </a:moveTo>
                <a:lnTo>
                  <a:pt x="8484241" y="0"/>
                </a:lnTo>
                <a:lnTo>
                  <a:pt x="8484241" y="6694837"/>
                </a:lnTo>
                <a:lnTo>
                  <a:pt x="0" y="6694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1719019">
            <a:off x="-1368854" y="9629424"/>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28700" y="2639312"/>
            <a:ext cx="8492904" cy="3414977"/>
          </a:xfrm>
          <a:prstGeom prst="rect">
            <a:avLst/>
          </a:prstGeom>
        </p:spPr>
        <p:txBody>
          <a:bodyPr anchor="t" rtlCol="false" tIns="0" lIns="0" bIns="0" rIns="0">
            <a:spAutoFit/>
          </a:bodyPr>
          <a:lstStyle/>
          <a:p>
            <a:pPr algn="l">
              <a:lnSpc>
                <a:spcPts val="22852"/>
              </a:lnSpc>
            </a:pPr>
            <a:r>
              <a:rPr lang="en-US" sz="21763">
                <a:solidFill>
                  <a:srgbClr val="EBE8DE"/>
                </a:solidFill>
                <a:latin typeface="Gill Sans Light Shadowed"/>
                <a:ea typeface="Gill Sans Light Shadowed"/>
                <a:cs typeface="Gill Sans Light Shadowed"/>
                <a:sym typeface="Gill Sans Light Shadowed"/>
              </a:rPr>
              <a:t>MOVIE</a:t>
            </a:r>
          </a:p>
        </p:txBody>
      </p:sp>
      <p:sp>
        <p:nvSpPr>
          <p:cNvPr name="TextBox 12" id="12"/>
          <p:cNvSpPr txBox="true"/>
          <p:nvPr/>
        </p:nvSpPr>
        <p:spPr>
          <a:xfrm rot="0">
            <a:off x="1050694" y="5029583"/>
            <a:ext cx="7493652" cy="1712685"/>
          </a:xfrm>
          <a:prstGeom prst="rect">
            <a:avLst/>
          </a:prstGeom>
        </p:spPr>
        <p:txBody>
          <a:bodyPr anchor="t" rtlCol="false" tIns="0" lIns="0" bIns="0" rIns="0">
            <a:spAutoFit/>
          </a:bodyPr>
          <a:lstStyle/>
          <a:p>
            <a:pPr algn="l">
              <a:lnSpc>
                <a:spcPts val="11449"/>
              </a:lnSpc>
            </a:pPr>
            <a:r>
              <a:rPr lang="en-US" sz="10904">
                <a:solidFill>
                  <a:srgbClr val="EBE8DE"/>
                </a:solidFill>
                <a:latin typeface="Gill Sans Light Shadowed"/>
                <a:ea typeface="Gill Sans Light Shadowed"/>
                <a:cs typeface="Gill Sans Light Shadowed"/>
                <a:sym typeface="Gill Sans Light Shadowed"/>
              </a:rPr>
              <a:t>Flix</a:t>
            </a:r>
          </a:p>
        </p:txBody>
      </p:sp>
      <p:sp>
        <p:nvSpPr>
          <p:cNvPr name="TextBox 13" id="13"/>
          <p:cNvSpPr txBox="true"/>
          <p:nvPr/>
        </p:nvSpPr>
        <p:spPr>
          <a:xfrm rot="0">
            <a:off x="750044" y="7477128"/>
            <a:ext cx="9635761" cy="1160515"/>
          </a:xfrm>
          <a:prstGeom prst="rect">
            <a:avLst/>
          </a:prstGeom>
        </p:spPr>
        <p:txBody>
          <a:bodyPr anchor="t" rtlCol="false" tIns="0" lIns="0" bIns="0" rIns="0">
            <a:spAutoFit/>
          </a:bodyPr>
          <a:lstStyle/>
          <a:p>
            <a:pPr algn="l">
              <a:lnSpc>
                <a:spcPts val="3065"/>
              </a:lnSpc>
            </a:pPr>
            <a:r>
              <a:rPr lang="en-US" sz="2919">
                <a:solidFill>
                  <a:srgbClr val="EBE8DE"/>
                </a:solidFill>
                <a:latin typeface="Open Sauce"/>
                <a:ea typeface="Open Sauce"/>
                <a:cs typeface="Open Sauce"/>
                <a:sym typeface="Open Sauce"/>
              </a:rPr>
              <a:t>A. Bhavana Sri -2520030232</a:t>
            </a:r>
          </a:p>
          <a:p>
            <a:pPr algn="l">
              <a:lnSpc>
                <a:spcPts val="3065"/>
              </a:lnSpc>
            </a:pPr>
            <a:r>
              <a:rPr lang="en-US" sz="2919">
                <a:solidFill>
                  <a:srgbClr val="EBE8DE"/>
                </a:solidFill>
                <a:latin typeface="Open Sauce"/>
                <a:ea typeface="Open Sauce"/>
                <a:cs typeface="Open Sauce"/>
                <a:sym typeface="Open Sauce"/>
              </a:rPr>
              <a:t>K.Sai Joshna-2520030293</a:t>
            </a:r>
          </a:p>
          <a:p>
            <a:pPr algn="l">
              <a:lnSpc>
                <a:spcPts val="3065"/>
              </a:lnSpc>
              <a:spcBef>
                <a:spcPct val="0"/>
              </a:spcBef>
            </a:pPr>
            <a:r>
              <a:rPr lang="en-US" sz="2919">
                <a:solidFill>
                  <a:srgbClr val="EBE8DE"/>
                </a:solidFill>
                <a:latin typeface="Open Sauce"/>
                <a:ea typeface="Open Sauce"/>
                <a:cs typeface="Open Sauce"/>
                <a:sym typeface="Open Sauce"/>
              </a:rPr>
              <a:t>J.Charvi-2520030294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AutoShape 3" id="3"/>
          <p:cNvSpPr/>
          <p:nvPr/>
        </p:nvSpPr>
        <p:spPr>
          <a:xfrm>
            <a:off x="1028700" y="4522705"/>
            <a:ext cx="6377321" cy="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12780344" y="1615840"/>
            <a:ext cx="4137598" cy="7075535"/>
            <a:chOff x="0" y="0"/>
            <a:chExt cx="577501" cy="987560"/>
          </a:xfrm>
        </p:grpSpPr>
        <p:sp>
          <p:nvSpPr>
            <p:cNvPr name="Freeform 5" id="5"/>
            <p:cNvSpPr/>
            <p:nvPr/>
          </p:nvSpPr>
          <p:spPr>
            <a:xfrm flipH="false" flipV="false" rot="0">
              <a:off x="0" y="0"/>
              <a:ext cx="577501" cy="987560"/>
            </a:xfrm>
            <a:custGeom>
              <a:avLst/>
              <a:gdLst/>
              <a:ahLst/>
              <a:cxnLst/>
              <a:rect r="r" b="b" t="t" l="l"/>
              <a:pathLst>
                <a:path h="987560" w="577501">
                  <a:moveTo>
                    <a:pt x="0" y="0"/>
                  </a:moveTo>
                  <a:lnTo>
                    <a:pt x="577501" y="0"/>
                  </a:lnTo>
                  <a:lnTo>
                    <a:pt x="577501" y="987560"/>
                  </a:lnTo>
                  <a:lnTo>
                    <a:pt x="0" y="987560"/>
                  </a:lnTo>
                  <a:close/>
                </a:path>
              </a:pathLst>
            </a:custGeom>
            <a:blipFill>
              <a:blip r:embed="rId3"/>
              <a:stretch>
                <a:fillRect l="-78334" t="0" r="-78334" b="0"/>
              </a:stretch>
            </a:blipFill>
          </p:spPr>
        </p:sp>
      </p:grpSp>
      <p:sp>
        <p:nvSpPr>
          <p:cNvPr name="Freeform 6" id="6"/>
          <p:cNvSpPr/>
          <p:nvPr/>
        </p:nvSpPr>
        <p:spPr>
          <a:xfrm flipH="false" flipV="false" rot="1719019">
            <a:off x="-1511853" y="93673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860320">
            <a:off x="16248765" y="93673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2333658"/>
            <a:ext cx="5984833" cy="1975574"/>
          </a:xfrm>
          <a:prstGeom prst="rect">
            <a:avLst/>
          </a:prstGeom>
        </p:spPr>
        <p:txBody>
          <a:bodyPr anchor="t" rtlCol="false" tIns="0" lIns="0" bIns="0" rIns="0">
            <a:spAutoFit/>
          </a:bodyPr>
          <a:lstStyle/>
          <a:p>
            <a:pPr algn="l">
              <a:lnSpc>
                <a:spcPts val="7680"/>
              </a:lnSpc>
            </a:pPr>
            <a:r>
              <a:rPr lang="en-US" sz="7314" b="true">
                <a:solidFill>
                  <a:srgbClr val="EBE8DE"/>
                </a:solidFill>
                <a:latin typeface="Open Sauce Bold"/>
                <a:ea typeface="Open Sauce Bold"/>
                <a:cs typeface="Open Sauce Bold"/>
                <a:sym typeface="Open Sauce Bold"/>
              </a:rPr>
              <a:t>What is </a:t>
            </a:r>
          </a:p>
          <a:p>
            <a:pPr algn="l">
              <a:lnSpc>
                <a:spcPts val="7680"/>
              </a:lnSpc>
            </a:pPr>
            <a:r>
              <a:rPr lang="en-US" sz="7314" b="true">
                <a:solidFill>
                  <a:srgbClr val="EBE8DE"/>
                </a:solidFill>
                <a:latin typeface="Open Sauce Bold"/>
                <a:ea typeface="Open Sauce Bold"/>
                <a:cs typeface="Open Sauce Bold"/>
                <a:sym typeface="Open Sauce Bold"/>
              </a:rPr>
              <a:t>MovieFlix?</a:t>
            </a:r>
          </a:p>
        </p:txBody>
      </p:sp>
      <p:sp>
        <p:nvSpPr>
          <p:cNvPr name="TextBox 9" id="9"/>
          <p:cNvSpPr txBox="true"/>
          <p:nvPr/>
        </p:nvSpPr>
        <p:spPr>
          <a:xfrm rot="0">
            <a:off x="0" y="5133826"/>
            <a:ext cx="11391382" cy="2420536"/>
          </a:xfrm>
          <a:prstGeom prst="rect">
            <a:avLst/>
          </a:prstGeom>
        </p:spPr>
        <p:txBody>
          <a:bodyPr anchor="t" rtlCol="false" tIns="0" lIns="0" bIns="0" rIns="0">
            <a:spAutoFit/>
          </a:bodyPr>
          <a:lstStyle/>
          <a:p>
            <a:pPr algn="ctr">
              <a:lnSpc>
                <a:spcPts val="3215"/>
              </a:lnSpc>
              <a:spcBef>
                <a:spcPct val="0"/>
              </a:spcBef>
            </a:pPr>
            <a:r>
              <a:rPr lang="en-US" sz="3062">
                <a:solidFill>
                  <a:srgbClr val="EBE8DE"/>
                </a:solidFill>
                <a:latin typeface="Open Sauce"/>
                <a:ea typeface="Open Sauce"/>
                <a:cs typeface="Open Sauce"/>
                <a:sym typeface="Open Sauce"/>
              </a:rPr>
              <a:t>MovieFlix is a smart digital movie discovery platform that helps users instantly search and explore films across various genres, languages, and actors. It acts as an entertainment assistant that simplifies finding the right movies and creating optimized watchlists tailored to user preferences.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0" y="2365746"/>
            <a:ext cx="4339523" cy="6374394"/>
            <a:chOff x="0" y="0"/>
            <a:chExt cx="672306" cy="987560"/>
          </a:xfrm>
        </p:grpSpPr>
        <p:sp>
          <p:nvSpPr>
            <p:cNvPr name="Freeform 4" id="4"/>
            <p:cNvSpPr/>
            <p:nvPr/>
          </p:nvSpPr>
          <p:spPr>
            <a:xfrm flipH="false" flipV="false" rot="0">
              <a:off x="0" y="0"/>
              <a:ext cx="672306" cy="987560"/>
            </a:xfrm>
            <a:custGeom>
              <a:avLst/>
              <a:gdLst/>
              <a:ahLst/>
              <a:cxnLst/>
              <a:rect r="r" b="b" t="t" l="l"/>
              <a:pathLst>
                <a:path h="987560" w="672306">
                  <a:moveTo>
                    <a:pt x="0" y="0"/>
                  </a:moveTo>
                  <a:lnTo>
                    <a:pt x="672306" y="0"/>
                  </a:lnTo>
                  <a:lnTo>
                    <a:pt x="672306" y="987560"/>
                  </a:lnTo>
                  <a:lnTo>
                    <a:pt x="0" y="987560"/>
                  </a:lnTo>
                  <a:close/>
                </a:path>
              </a:pathLst>
            </a:custGeom>
            <a:blipFill>
              <a:blip r:embed="rId3"/>
              <a:stretch>
                <a:fillRect l="-60861" t="0" r="-60861" b="0"/>
              </a:stretch>
            </a:blipFill>
          </p:spPr>
        </p:sp>
      </p:grpSp>
      <p:grpSp>
        <p:nvGrpSpPr>
          <p:cNvPr name="Group 5" id="5"/>
          <p:cNvGrpSpPr/>
          <p:nvPr/>
        </p:nvGrpSpPr>
        <p:grpSpPr>
          <a:xfrm rot="0">
            <a:off x="13948477" y="2365746"/>
            <a:ext cx="4339523" cy="6374394"/>
            <a:chOff x="0" y="0"/>
            <a:chExt cx="672306" cy="987560"/>
          </a:xfrm>
        </p:grpSpPr>
        <p:sp>
          <p:nvSpPr>
            <p:cNvPr name="Freeform 6" id="6"/>
            <p:cNvSpPr/>
            <p:nvPr/>
          </p:nvSpPr>
          <p:spPr>
            <a:xfrm flipH="false" flipV="false" rot="0">
              <a:off x="0" y="0"/>
              <a:ext cx="672306" cy="987560"/>
            </a:xfrm>
            <a:custGeom>
              <a:avLst/>
              <a:gdLst/>
              <a:ahLst/>
              <a:cxnLst/>
              <a:rect r="r" b="b" t="t" l="l"/>
              <a:pathLst>
                <a:path h="987560" w="672306">
                  <a:moveTo>
                    <a:pt x="0" y="0"/>
                  </a:moveTo>
                  <a:lnTo>
                    <a:pt x="672306" y="0"/>
                  </a:lnTo>
                  <a:lnTo>
                    <a:pt x="672306" y="987560"/>
                  </a:lnTo>
                  <a:lnTo>
                    <a:pt x="0" y="987560"/>
                  </a:lnTo>
                  <a:close/>
                </a:path>
              </a:pathLst>
            </a:custGeom>
            <a:blipFill>
              <a:blip r:embed="rId4"/>
              <a:stretch>
                <a:fillRect l="-339" t="0" r="-339" b="-2716"/>
              </a:stretch>
            </a:blipFill>
          </p:spPr>
        </p:sp>
      </p:grpSp>
      <p:sp>
        <p:nvSpPr>
          <p:cNvPr name="Freeform 7" id="7"/>
          <p:cNvSpPr/>
          <p:nvPr/>
        </p:nvSpPr>
        <p:spPr>
          <a:xfrm flipH="false" flipV="false" rot="1719019">
            <a:off x="-1511853" y="93673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8860320">
            <a:off x="16248765" y="93673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5660921" y="397598"/>
            <a:ext cx="6835284" cy="2025253"/>
          </a:xfrm>
          <a:prstGeom prst="rect">
            <a:avLst/>
          </a:prstGeom>
        </p:spPr>
        <p:txBody>
          <a:bodyPr anchor="t" rtlCol="false" tIns="0" lIns="0" bIns="0" rIns="0">
            <a:spAutoFit/>
          </a:bodyPr>
          <a:lstStyle/>
          <a:p>
            <a:pPr algn="l">
              <a:lnSpc>
                <a:spcPts val="7891"/>
              </a:lnSpc>
            </a:pPr>
            <a:r>
              <a:rPr lang="en-US" sz="7515" b="true">
                <a:solidFill>
                  <a:srgbClr val="EBE8DE"/>
                </a:solidFill>
                <a:latin typeface="Open Sauce Bold"/>
                <a:ea typeface="Open Sauce Bold"/>
                <a:cs typeface="Open Sauce Bold"/>
                <a:sym typeface="Open Sauce Bold"/>
              </a:rPr>
              <a:t>Problem Statement </a:t>
            </a:r>
          </a:p>
        </p:txBody>
      </p:sp>
      <p:sp>
        <p:nvSpPr>
          <p:cNvPr name="TextBox 10" id="10"/>
          <p:cNvSpPr txBox="true"/>
          <p:nvPr/>
        </p:nvSpPr>
        <p:spPr>
          <a:xfrm rot="0">
            <a:off x="4750843" y="3536661"/>
            <a:ext cx="8511666" cy="4960951"/>
          </a:xfrm>
          <a:prstGeom prst="rect">
            <a:avLst/>
          </a:prstGeom>
        </p:spPr>
        <p:txBody>
          <a:bodyPr anchor="t" rtlCol="false" tIns="0" lIns="0" bIns="0" rIns="0">
            <a:spAutoFit/>
          </a:bodyPr>
          <a:lstStyle/>
          <a:p>
            <a:pPr algn="l" marL="727022" indent="-363511" lvl="1">
              <a:lnSpc>
                <a:spcPts val="3535"/>
              </a:lnSpc>
              <a:buFont typeface="Arial"/>
              <a:buChar char="•"/>
            </a:pPr>
            <a:r>
              <a:rPr lang="en-US" sz="3367">
                <a:solidFill>
                  <a:srgbClr val="EBE8DE"/>
                </a:solidFill>
                <a:latin typeface="Open Sauce"/>
                <a:ea typeface="Open Sauce"/>
                <a:cs typeface="Open Sauce"/>
                <a:sym typeface="Open Sauce"/>
              </a:rPr>
              <a:t>Slow Sea</a:t>
            </a:r>
            <a:r>
              <a:rPr lang="en-US" sz="3367">
                <a:solidFill>
                  <a:srgbClr val="EBE8DE"/>
                </a:solidFill>
                <a:latin typeface="Open Sauce"/>
                <a:ea typeface="Open Sauce"/>
                <a:cs typeface="Open Sauce"/>
                <a:sym typeface="Open Sauce"/>
              </a:rPr>
              <a:t>rch &amp; Repeated Restarts</a:t>
            </a:r>
          </a:p>
          <a:p>
            <a:pPr algn="l" marL="727022" indent="-363511" lvl="1">
              <a:lnSpc>
                <a:spcPts val="3535"/>
              </a:lnSpc>
              <a:buFont typeface="Arial"/>
              <a:buChar char="•"/>
            </a:pPr>
            <a:r>
              <a:rPr lang="en-US" sz="3367">
                <a:solidFill>
                  <a:srgbClr val="EBE8DE"/>
                </a:solidFill>
                <a:latin typeface="Open Sauce"/>
                <a:ea typeface="Open Sauce"/>
                <a:cs typeface="Open Sauce"/>
                <a:sym typeface="Open Sauce"/>
              </a:rPr>
              <a:t>Zero Results on Spelling Mistakes</a:t>
            </a:r>
          </a:p>
          <a:p>
            <a:pPr algn="l" marL="727022" indent="-363511" lvl="1">
              <a:lnSpc>
                <a:spcPts val="3535"/>
              </a:lnSpc>
              <a:buFont typeface="Arial"/>
              <a:buChar char="•"/>
            </a:pPr>
            <a:r>
              <a:rPr lang="en-US" sz="3367">
                <a:solidFill>
                  <a:srgbClr val="EBE8DE"/>
                </a:solidFill>
                <a:latin typeface="Open Sauce"/>
                <a:ea typeface="Open Sauce"/>
                <a:cs typeface="Open Sauce"/>
                <a:sym typeface="Open Sauce"/>
              </a:rPr>
              <a:t>No Multi-Keyword Search in Descriptions</a:t>
            </a:r>
          </a:p>
          <a:p>
            <a:pPr algn="l" marL="727022" indent="-363511" lvl="1">
              <a:lnSpc>
                <a:spcPts val="3535"/>
              </a:lnSpc>
              <a:buFont typeface="Arial"/>
              <a:buChar char="•"/>
            </a:pPr>
            <a:r>
              <a:rPr lang="en-US" sz="3367">
                <a:solidFill>
                  <a:srgbClr val="EBE8DE"/>
                </a:solidFill>
                <a:latin typeface="Open Sauce"/>
                <a:ea typeface="Open Sauce"/>
                <a:cs typeface="Open Sauce"/>
                <a:sym typeface="Open Sauce"/>
              </a:rPr>
              <a:t>Missing Instant Typing Auto-Complete</a:t>
            </a:r>
          </a:p>
          <a:p>
            <a:pPr algn="l" marL="727022" indent="-363511" lvl="1">
              <a:lnSpc>
                <a:spcPts val="3535"/>
              </a:lnSpc>
              <a:buFont typeface="Arial"/>
              <a:buChar char="•"/>
            </a:pPr>
            <a:r>
              <a:rPr lang="en-US" sz="3367">
                <a:solidFill>
                  <a:srgbClr val="EBE8DE"/>
                </a:solidFill>
                <a:latin typeface="Open Sauce"/>
                <a:ea typeface="Open Sauce"/>
                <a:cs typeface="Open Sauce"/>
                <a:sym typeface="Open Sauce"/>
              </a:rPr>
              <a:t>Unfair / Inaccurate Movie Recommendations</a:t>
            </a:r>
          </a:p>
          <a:p>
            <a:pPr algn="l" marL="727022" indent="-363511" lvl="1">
              <a:lnSpc>
                <a:spcPts val="3535"/>
              </a:lnSpc>
              <a:buFont typeface="Arial"/>
              <a:buChar char="•"/>
            </a:pPr>
            <a:r>
              <a:rPr lang="en-US" sz="3367">
                <a:solidFill>
                  <a:srgbClr val="EBE8DE"/>
                </a:solidFill>
                <a:latin typeface="Open Sauce"/>
                <a:ea typeface="Open Sauce"/>
                <a:cs typeface="Open Sauce"/>
                <a:sym typeface="Open Sauce"/>
              </a:rPr>
              <a:t>No Movie Planning for Limited Free Time</a:t>
            </a:r>
          </a:p>
          <a:p>
            <a:pPr algn="l">
              <a:lnSpc>
                <a:spcPts val="364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0" y="2572140"/>
            <a:ext cx="4495790" cy="5522397"/>
            <a:chOff x="0" y="0"/>
            <a:chExt cx="696515" cy="855564"/>
          </a:xfrm>
        </p:grpSpPr>
        <p:sp>
          <p:nvSpPr>
            <p:cNvPr name="Freeform 4" id="4"/>
            <p:cNvSpPr/>
            <p:nvPr/>
          </p:nvSpPr>
          <p:spPr>
            <a:xfrm flipH="false" flipV="false" rot="0">
              <a:off x="0" y="0"/>
              <a:ext cx="696515" cy="855564"/>
            </a:xfrm>
            <a:custGeom>
              <a:avLst/>
              <a:gdLst/>
              <a:ahLst/>
              <a:cxnLst/>
              <a:rect r="r" b="b" t="t" l="l"/>
              <a:pathLst>
                <a:path h="855564" w="696515">
                  <a:moveTo>
                    <a:pt x="0" y="0"/>
                  </a:moveTo>
                  <a:lnTo>
                    <a:pt x="696515" y="0"/>
                  </a:lnTo>
                  <a:lnTo>
                    <a:pt x="696515" y="855564"/>
                  </a:lnTo>
                  <a:lnTo>
                    <a:pt x="0" y="855564"/>
                  </a:lnTo>
                  <a:close/>
                </a:path>
              </a:pathLst>
            </a:custGeom>
            <a:blipFill>
              <a:blip r:embed="rId3"/>
              <a:stretch>
                <a:fillRect l="-42546" t="0" r="-42546" b="0"/>
              </a:stretch>
            </a:blipFill>
          </p:spPr>
        </p:sp>
      </p:grpSp>
      <p:grpSp>
        <p:nvGrpSpPr>
          <p:cNvPr name="Group 5" id="5"/>
          <p:cNvGrpSpPr/>
          <p:nvPr/>
        </p:nvGrpSpPr>
        <p:grpSpPr>
          <a:xfrm rot="0">
            <a:off x="14586602" y="-188135"/>
            <a:ext cx="3701398" cy="2433670"/>
            <a:chOff x="0" y="0"/>
            <a:chExt cx="573443" cy="377039"/>
          </a:xfrm>
        </p:grpSpPr>
        <p:sp>
          <p:nvSpPr>
            <p:cNvPr name="Freeform 6" id="6"/>
            <p:cNvSpPr/>
            <p:nvPr/>
          </p:nvSpPr>
          <p:spPr>
            <a:xfrm flipH="false" flipV="false" rot="0">
              <a:off x="0" y="0"/>
              <a:ext cx="573443" cy="377039"/>
            </a:xfrm>
            <a:custGeom>
              <a:avLst/>
              <a:gdLst/>
              <a:ahLst/>
              <a:cxnLst/>
              <a:rect r="r" b="b" t="t" l="l"/>
              <a:pathLst>
                <a:path h="377039" w="573443">
                  <a:moveTo>
                    <a:pt x="0" y="0"/>
                  </a:moveTo>
                  <a:lnTo>
                    <a:pt x="573443" y="0"/>
                  </a:lnTo>
                  <a:lnTo>
                    <a:pt x="573443" y="377039"/>
                  </a:lnTo>
                  <a:lnTo>
                    <a:pt x="0" y="377039"/>
                  </a:lnTo>
                  <a:close/>
                </a:path>
              </a:pathLst>
            </a:custGeom>
            <a:blipFill>
              <a:blip r:embed="rId4"/>
              <a:stretch>
                <a:fillRect l="0" t="-665" r="0" b="-665"/>
              </a:stretch>
            </a:blipFill>
          </p:spPr>
        </p:sp>
      </p:grpSp>
      <p:sp>
        <p:nvSpPr>
          <p:cNvPr name="Freeform 7" id="7"/>
          <p:cNvSpPr/>
          <p:nvPr/>
        </p:nvSpPr>
        <p:spPr>
          <a:xfrm flipH="false" flipV="false" rot="1719019">
            <a:off x="-1511853" y="93673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8860320">
            <a:off x="16248765" y="93673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5726517" y="340252"/>
            <a:ext cx="7252950" cy="1762409"/>
          </a:xfrm>
          <a:prstGeom prst="rect">
            <a:avLst/>
          </a:prstGeom>
        </p:spPr>
        <p:txBody>
          <a:bodyPr anchor="t" rtlCol="false" tIns="0" lIns="0" bIns="0" rIns="0">
            <a:spAutoFit/>
          </a:bodyPr>
          <a:lstStyle/>
          <a:p>
            <a:pPr algn="l">
              <a:lnSpc>
                <a:spcPts val="6840"/>
              </a:lnSpc>
            </a:pPr>
            <a:r>
              <a:rPr lang="en-US" sz="6514" b="true">
                <a:solidFill>
                  <a:srgbClr val="EBE8DE"/>
                </a:solidFill>
                <a:latin typeface="Open Sauce Bold"/>
                <a:ea typeface="Open Sauce Bold"/>
                <a:cs typeface="Open Sauce Bold"/>
                <a:sym typeface="Open Sauce Bold"/>
              </a:rPr>
              <a:t>Proposed Solution</a:t>
            </a:r>
          </a:p>
        </p:txBody>
      </p:sp>
      <p:sp>
        <p:nvSpPr>
          <p:cNvPr name="TextBox 10" id="10"/>
          <p:cNvSpPr txBox="true"/>
          <p:nvPr/>
        </p:nvSpPr>
        <p:spPr>
          <a:xfrm rot="0">
            <a:off x="5400665" y="3279854"/>
            <a:ext cx="10376678" cy="4696911"/>
          </a:xfrm>
          <a:prstGeom prst="rect">
            <a:avLst/>
          </a:prstGeom>
        </p:spPr>
        <p:txBody>
          <a:bodyPr anchor="t" rtlCol="false" tIns="0" lIns="0" bIns="0" rIns="0">
            <a:spAutoFit/>
          </a:bodyPr>
          <a:lstStyle/>
          <a:p>
            <a:pPr algn="l" marL="638470" indent="-319235" lvl="1">
              <a:lnSpc>
                <a:spcPts val="4140"/>
              </a:lnSpc>
              <a:buFont typeface="Arial"/>
              <a:buChar char="•"/>
            </a:pPr>
            <a:r>
              <a:rPr lang="en-US" sz="2957">
                <a:solidFill>
                  <a:srgbClr val="EBE8DE"/>
                </a:solidFill>
                <a:latin typeface="Open Sauce Light"/>
                <a:ea typeface="Open Sauce Light"/>
                <a:cs typeface="Open Sauce Light"/>
                <a:sym typeface="Open Sauce Light"/>
              </a:rPr>
              <a:t>Fast One-Pass Search (KMP Algorithm)</a:t>
            </a:r>
          </a:p>
          <a:p>
            <a:pPr algn="l" marL="638470" indent="-319235" lvl="1">
              <a:lnSpc>
                <a:spcPts val="4140"/>
              </a:lnSpc>
              <a:spcBef>
                <a:spcPct val="0"/>
              </a:spcBef>
              <a:buFont typeface="Arial"/>
              <a:buChar char="•"/>
            </a:pPr>
            <a:r>
              <a:rPr lang="en-US" sz="2957">
                <a:solidFill>
                  <a:srgbClr val="EBE8DE"/>
                </a:solidFill>
                <a:latin typeface="Open Sauce Light"/>
                <a:ea typeface="Open Sauce Light"/>
                <a:cs typeface="Open Sauce Light"/>
                <a:sym typeface="Open Sauce Light"/>
              </a:rPr>
              <a:t>Smart Typo</a:t>
            </a:r>
            <a:r>
              <a:rPr lang="en-US" sz="2957">
                <a:solidFill>
                  <a:srgbClr val="EBE8DE"/>
                </a:solidFill>
                <a:latin typeface="Open Sauce Light"/>
                <a:ea typeface="Open Sauce Light"/>
                <a:cs typeface="Open Sauce Light"/>
                <a:sym typeface="Open Sauce Light"/>
              </a:rPr>
              <a:t>-Correction (Dynamic Programming / Edi</a:t>
            </a:r>
            <a:r>
              <a:rPr lang="en-US" sz="2957">
                <a:solidFill>
                  <a:srgbClr val="EBE8DE"/>
                </a:solidFill>
                <a:latin typeface="Open Sauce Light"/>
                <a:ea typeface="Open Sauce Light"/>
                <a:cs typeface="Open Sauce Light"/>
                <a:sym typeface="Open Sauce Light"/>
              </a:rPr>
              <a:t>t Distance)</a:t>
            </a:r>
          </a:p>
          <a:p>
            <a:pPr algn="l" marL="638470" indent="-319235" lvl="1">
              <a:lnSpc>
                <a:spcPts val="4140"/>
              </a:lnSpc>
              <a:spcBef>
                <a:spcPct val="0"/>
              </a:spcBef>
              <a:buFont typeface="Arial"/>
              <a:buChar char="•"/>
            </a:pPr>
            <a:r>
              <a:rPr lang="en-US" sz="2957">
                <a:solidFill>
                  <a:srgbClr val="EBE8DE"/>
                </a:solidFill>
                <a:latin typeface="Open Sauce Light"/>
                <a:ea typeface="Open Sauce Light"/>
                <a:cs typeface="Open Sauce Light"/>
                <a:sym typeface="Open Sauce Light"/>
              </a:rPr>
              <a:t>Multi-Keyword Matching (Rabin-Karp Rolling Hash)</a:t>
            </a:r>
          </a:p>
          <a:p>
            <a:pPr algn="l" marL="638470" indent="-319235" lvl="1">
              <a:lnSpc>
                <a:spcPts val="4140"/>
              </a:lnSpc>
              <a:spcBef>
                <a:spcPct val="0"/>
              </a:spcBef>
              <a:buFont typeface="Arial"/>
              <a:buChar char="•"/>
            </a:pPr>
            <a:r>
              <a:rPr lang="en-US" sz="2957">
                <a:solidFill>
                  <a:srgbClr val="EBE8DE"/>
                </a:solidFill>
                <a:latin typeface="Open Sauce Light"/>
                <a:ea typeface="Open Sauce Light"/>
                <a:cs typeface="Open Sauce Light"/>
                <a:sym typeface="Open Sauce Light"/>
              </a:rPr>
              <a:t>Instant Word Suggestions (Trie Tree Structure)</a:t>
            </a:r>
          </a:p>
          <a:p>
            <a:pPr algn="l" marL="638470" indent="-319235" lvl="1">
              <a:lnSpc>
                <a:spcPts val="4140"/>
              </a:lnSpc>
              <a:spcBef>
                <a:spcPct val="0"/>
              </a:spcBef>
              <a:buFont typeface="Arial"/>
              <a:buChar char="•"/>
            </a:pPr>
            <a:r>
              <a:rPr lang="en-US" sz="2957">
                <a:solidFill>
                  <a:srgbClr val="EBE8DE"/>
                </a:solidFill>
                <a:latin typeface="Open Sauce Light"/>
                <a:ea typeface="Open Sauce Light"/>
                <a:cs typeface="Open Sauce Light"/>
                <a:sym typeface="Open Sauce Light"/>
              </a:rPr>
              <a:t>Balanced Personalized Suggestions (Graph Matching)</a:t>
            </a:r>
          </a:p>
          <a:p>
            <a:pPr algn="l" marL="638470" indent="-319235" lvl="1">
              <a:lnSpc>
                <a:spcPts val="4140"/>
              </a:lnSpc>
              <a:spcBef>
                <a:spcPct val="0"/>
              </a:spcBef>
              <a:buFont typeface="Arial"/>
              <a:buChar char="•"/>
            </a:pPr>
            <a:r>
              <a:rPr lang="en-US" sz="2957">
                <a:solidFill>
                  <a:srgbClr val="EBE8DE"/>
                </a:solidFill>
                <a:latin typeface="Open Sauce Light"/>
                <a:ea typeface="Open Sauce Light"/>
                <a:cs typeface="Open Sauce Light"/>
                <a:sym typeface="Open Sauce Light"/>
              </a:rPr>
              <a:t>Best Movie Selection for Exact Free Time (0/1 Knapsack Optimizer)</a:t>
            </a:r>
          </a:p>
          <a:p>
            <a:pPr algn="l">
              <a:lnSpc>
                <a:spcPts val="414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29842" y="2253547"/>
            <a:ext cx="4388191" cy="8033453"/>
            <a:chOff x="0" y="0"/>
            <a:chExt cx="679846" cy="1244592"/>
          </a:xfrm>
        </p:grpSpPr>
        <p:sp>
          <p:nvSpPr>
            <p:cNvPr name="Freeform 4" id="4"/>
            <p:cNvSpPr/>
            <p:nvPr/>
          </p:nvSpPr>
          <p:spPr>
            <a:xfrm flipH="false" flipV="false" rot="0">
              <a:off x="0" y="0"/>
              <a:ext cx="679846" cy="1244592"/>
            </a:xfrm>
            <a:custGeom>
              <a:avLst/>
              <a:gdLst/>
              <a:ahLst/>
              <a:cxnLst/>
              <a:rect r="r" b="b" t="t" l="l"/>
              <a:pathLst>
                <a:path h="1244592" w="679846">
                  <a:moveTo>
                    <a:pt x="0" y="0"/>
                  </a:moveTo>
                  <a:lnTo>
                    <a:pt x="679846" y="0"/>
                  </a:lnTo>
                  <a:lnTo>
                    <a:pt x="679846" y="1244592"/>
                  </a:lnTo>
                  <a:lnTo>
                    <a:pt x="0" y="1244592"/>
                  </a:lnTo>
                  <a:close/>
                </a:path>
              </a:pathLst>
            </a:custGeom>
            <a:blipFill>
              <a:blip r:embed="rId3"/>
              <a:stretch>
                <a:fillRect l="-10985" t="-48255" r="-69841" b="0"/>
              </a:stretch>
            </a:blipFill>
          </p:spPr>
        </p:sp>
      </p:grpSp>
      <p:sp>
        <p:nvSpPr>
          <p:cNvPr name="Freeform 5" id="5"/>
          <p:cNvSpPr/>
          <p:nvPr/>
        </p:nvSpPr>
        <p:spPr>
          <a:xfrm flipH="false" flipV="false" rot="1719019">
            <a:off x="-1359453" y="9519795"/>
            <a:ext cx="3531528" cy="2786697"/>
          </a:xfrm>
          <a:custGeom>
            <a:avLst/>
            <a:gdLst/>
            <a:ahLst/>
            <a:cxnLst/>
            <a:rect r="r" b="b" t="t" l="l"/>
            <a:pathLst>
              <a:path h="2786697" w="3531528">
                <a:moveTo>
                  <a:pt x="0" y="0"/>
                </a:moveTo>
                <a:lnTo>
                  <a:pt x="3531528" y="0"/>
                </a:lnTo>
                <a:lnTo>
                  <a:pt x="3531528" y="2786697"/>
                </a:lnTo>
                <a:lnTo>
                  <a:pt x="0" y="2786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860320">
            <a:off x="14306237" y="8615907"/>
            <a:ext cx="6124385" cy="4832696"/>
          </a:xfrm>
          <a:custGeom>
            <a:avLst/>
            <a:gdLst/>
            <a:ahLst/>
            <a:cxnLst/>
            <a:rect r="r" b="b" t="t" l="l"/>
            <a:pathLst>
              <a:path h="4832696" w="6124385">
                <a:moveTo>
                  <a:pt x="0" y="0"/>
                </a:moveTo>
                <a:lnTo>
                  <a:pt x="6124385" y="0"/>
                </a:lnTo>
                <a:lnTo>
                  <a:pt x="6124385" y="4832696"/>
                </a:lnTo>
                <a:lnTo>
                  <a:pt x="0" y="48326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708712" y="1295400"/>
            <a:ext cx="6237827" cy="1786293"/>
          </a:xfrm>
          <a:prstGeom prst="rect">
            <a:avLst/>
          </a:prstGeom>
        </p:spPr>
        <p:txBody>
          <a:bodyPr anchor="t" rtlCol="false" tIns="0" lIns="0" bIns="0" rIns="0">
            <a:spAutoFit/>
          </a:bodyPr>
          <a:lstStyle/>
          <a:p>
            <a:pPr algn="l">
              <a:lnSpc>
                <a:spcPts val="6977"/>
              </a:lnSpc>
            </a:pPr>
            <a:r>
              <a:rPr lang="en-US" sz="6645" b="true">
                <a:solidFill>
                  <a:srgbClr val="EBE8DE"/>
                </a:solidFill>
                <a:latin typeface="Open Sauce Bold"/>
                <a:ea typeface="Open Sauce Bold"/>
                <a:cs typeface="Open Sauce Bold"/>
                <a:sym typeface="Open Sauce Bold"/>
              </a:rPr>
              <a:t>Software Requirements</a:t>
            </a:r>
          </a:p>
        </p:txBody>
      </p:sp>
      <p:sp>
        <p:nvSpPr>
          <p:cNvPr name="TextBox 8" id="8"/>
          <p:cNvSpPr txBox="true"/>
          <p:nvPr/>
        </p:nvSpPr>
        <p:spPr>
          <a:xfrm rot="0">
            <a:off x="5708712" y="4945359"/>
            <a:ext cx="9490263" cy="3526128"/>
          </a:xfrm>
          <a:prstGeom prst="rect">
            <a:avLst/>
          </a:prstGeom>
        </p:spPr>
        <p:txBody>
          <a:bodyPr anchor="t" rtlCol="false" tIns="0" lIns="0" bIns="0" rIns="0">
            <a:spAutoFit/>
          </a:bodyPr>
          <a:lstStyle/>
          <a:p>
            <a:pPr algn="l" marL="827072" indent="-413536" lvl="1">
              <a:lnSpc>
                <a:spcPts val="4022"/>
              </a:lnSpc>
              <a:buFont typeface="Arial"/>
              <a:buChar char="•"/>
            </a:pPr>
            <a:r>
              <a:rPr lang="en-US" sz="3830">
                <a:solidFill>
                  <a:srgbClr val="EBE8DE"/>
                </a:solidFill>
                <a:latin typeface="Open Sauce"/>
                <a:ea typeface="Open Sauce"/>
                <a:cs typeface="Open Sauce"/>
                <a:sym typeface="Open Sauce"/>
              </a:rPr>
              <a:t>Java Development Kit (JDK)</a:t>
            </a:r>
          </a:p>
          <a:p>
            <a:pPr algn="l" marL="827072" indent="-413536" lvl="1">
              <a:lnSpc>
                <a:spcPts val="4022"/>
              </a:lnSpc>
              <a:buFont typeface="Arial"/>
              <a:buChar char="•"/>
            </a:pPr>
            <a:r>
              <a:rPr lang="en-US" sz="3830">
                <a:solidFill>
                  <a:srgbClr val="EBE8DE"/>
                </a:solidFill>
                <a:latin typeface="Open Sauce"/>
                <a:ea typeface="Open Sauce"/>
                <a:cs typeface="Open Sauce"/>
                <a:sym typeface="Open Sauce"/>
              </a:rPr>
              <a:t>Visual Studio Code (VS Code)</a:t>
            </a:r>
          </a:p>
          <a:p>
            <a:pPr algn="l" marL="827072" indent="-413536" lvl="1">
              <a:lnSpc>
                <a:spcPts val="4022"/>
              </a:lnSpc>
              <a:buFont typeface="Arial"/>
              <a:buChar char="•"/>
            </a:pPr>
            <a:r>
              <a:rPr lang="en-US" sz="3830">
                <a:solidFill>
                  <a:srgbClr val="EBE8DE"/>
                </a:solidFill>
                <a:latin typeface="Open Sauce"/>
                <a:ea typeface="Open Sauce"/>
                <a:cs typeface="Open Sauce"/>
                <a:sym typeface="Open Sauce"/>
              </a:rPr>
              <a:t>Built-in Java HTTP Server</a:t>
            </a:r>
          </a:p>
          <a:p>
            <a:pPr algn="l" marL="827072" indent="-413536" lvl="1">
              <a:lnSpc>
                <a:spcPts val="4022"/>
              </a:lnSpc>
              <a:buFont typeface="Arial"/>
              <a:buChar char="•"/>
            </a:pPr>
            <a:r>
              <a:rPr lang="en-US" sz="3830">
                <a:solidFill>
                  <a:srgbClr val="EBE8DE"/>
                </a:solidFill>
                <a:latin typeface="Open Sauce"/>
                <a:ea typeface="Open Sauce"/>
                <a:cs typeface="Open Sauce"/>
                <a:sym typeface="Open Sauce"/>
              </a:rPr>
              <a:t>Modern Web Browser (Google Chrome / Microsoft Edge)</a:t>
            </a:r>
          </a:p>
          <a:p>
            <a:pPr algn="l" marL="827072" indent="-413536" lvl="1">
              <a:lnSpc>
                <a:spcPts val="4022"/>
              </a:lnSpc>
              <a:buFont typeface="Arial"/>
              <a:buChar char="•"/>
            </a:pPr>
            <a:r>
              <a:rPr lang="en-US" sz="3830">
                <a:solidFill>
                  <a:srgbClr val="EBE8DE"/>
                </a:solidFill>
                <a:latin typeface="Open Sauce"/>
                <a:ea typeface="Open Sauce"/>
                <a:cs typeface="Open Sauce"/>
                <a:sym typeface="Open Sauce"/>
              </a:rPr>
              <a:t>Git &amp; GitHub</a:t>
            </a:r>
          </a:p>
          <a:p>
            <a:pPr algn="l" marL="827072" indent="-413536" lvl="1">
              <a:lnSpc>
                <a:spcPts val="4022"/>
              </a:lnSpc>
              <a:buFont typeface="Arial"/>
              <a:buChar char="•"/>
            </a:pPr>
            <a:r>
              <a:rPr lang="en-US" sz="3830">
                <a:solidFill>
                  <a:srgbClr val="EBE8DE"/>
                </a:solidFill>
                <a:latin typeface="Open Sauce"/>
                <a:ea typeface="Open Sauce"/>
                <a:cs typeface="Open Sauce"/>
                <a:sym typeface="Open Sauce"/>
              </a:rPr>
              <a:t>Windows PowerShell / Terminal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584750" y="4984192"/>
            <a:ext cx="6061918" cy="4274108"/>
            <a:chOff x="0" y="0"/>
            <a:chExt cx="939150" cy="662171"/>
          </a:xfrm>
        </p:grpSpPr>
        <p:sp>
          <p:nvSpPr>
            <p:cNvPr name="Freeform 4" id="4"/>
            <p:cNvSpPr/>
            <p:nvPr/>
          </p:nvSpPr>
          <p:spPr>
            <a:xfrm flipH="false" flipV="false" rot="0">
              <a:off x="0" y="0"/>
              <a:ext cx="939150" cy="662171"/>
            </a:xfrm>
            <a:custGeom>
              <a:avLst/>
              <a:gdLst/>
              <a:ahLst/>
              <a:cxnLst/>
              <a:rect r="r" b="b" t="t" l="l"/>
              <a:pathLst>
                <a:path h="662171" w="939150">
                  <a:moveTo>
                    <a:pt x="0" y="0"/>
                  </a:moveTo>
                  <a:lnTo>
                    <a:pt x="939150" y="0"/>
                  </a:lnTo>
                  <a:lnTo>
                    <a:pt x="939150" y="662171"/>
                  </a:lnTo>
                  <a:lnTo>
                    <a:pt x="0" y="662171"/>
                  </a:lnTo>
                  <a:close/>
                </a:path>
              </a:pathLst>
            </a:custGeom>
            <a:blipFill>
              <a:blip r:embed="rId3"/>
              <a:stretch>
                <a:fillRect l="-2814" t="0" r="-2814" b="0"/>
              </a:stretch>
            </a:blipFill>
          </p:spPr>
        </p:sp>
      </p:grpSp>
      <p:grpSp>
        <p:nvGrpSpPr>
          <p:cNvPr name="Group 5" id="5"/>
          <p:cNvGrpSpPr/>
          <p:nvPr/>
        </p:nvGrpSpPr>
        <p:grpSpPr>
          <a:xfrm rot="0">
            <a:off x="10008517" y="2269567"/>
            <a:ext cx="6311740" cy="2873933"/>
            <a:chOff x="0" y="0"/>
            <a:chExt cx="977854" cy="445247"/>
          </a:xfrm>
        </p:grpSpPr>
        <p:sp>
          <p:nvSpPr>
            <p:cNvPr name="Freeform 6" id="6"/>
            <p:cNvSpPr/>
            <p:nvPr/>
          </p:nvSpPr>
          <p:spPr>
            <a:xfrm flipH="false" flipV="false" rot="0">
              <a:off x="0" y="0"/>
              <a:ext cx="977854" cy="445247"/>
            </a:xfrm>
            <a:custGeom>
              <a:avLst/>
              <a:gdLst/>
              <a:ahLst/>
              <a:cxnLst/>
              <a:rect r="r" b="b" t="t" l="l"/>
              <a:pathLst>
                <a:path h="445247" w="977854">
                  <a:moveTo>
                    <a:pt x="0" y="0"/>
                  </a:moveTo>
                  <a:lnTo>
                    <a:pt x="977854" y="0"/>
                  </a:lnTo>
                  <a:lnTo>
                    <a:pt x="977854" y="445247"/>
                  </a:lnTo>
                  <a:lnTo>
                    <a:pt x="0" y="445247"/>
                  </a:lnTo>
                  <a:close/>
                </a:path>
              </a:pathLst>
            </a:custGeom>
            <a:blipFill>
              <a:blip r:embed="rId4"/>
              <a:stretch>
                <a:fillRect l="0" t="-114818" r="0" b="-114818"/>
              </a:stretch>
            </a:blipFill>
          </p:spPr>
        </p:sp>
      </p:grpSp>
      <p:sp>
        <p:nvSpPr>
          <p:cNvPr name="Freeform 7" id="7"/>
          <p:cNvSpPr/>
          <p:nvPr/>
        </p:nvSpPr>
        <p:spPr>
          <a:xfrm flipH="false" flipV="false" rot="8860320">
            <a:off x="14819503" y="9148132"/>
            <a:ext cx="6124385" cy="4832696"/>
          </a:xfrm>
          <a:custGeom>
            <a:avLst/>
            <a:gdLst/>
            <a:ahLst/>
            <a:cxnLst/>
            <a:rect r="r" b="b" t="t" l="l"/>
            <a:pathLst>
              <a:path h="4832696" w="6124385">
                <a:moveTo>
                  <a:pt x="0" y="0"/>
                </a:moveTo>
                <a:lnTo>
                  <a:pt x="6124385" y="0"/>
                </a:lnTo>
                <a:lnTo>
                  <a:pt x="6124385" y="4832696"/>
                </a:lnTo>
                <a:lnTo>
                  <a:pt x="0" y="48326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747299" y="2383867"/>
            <a:ext cx="7949085" cy="996599"/>
          </a:xfrm>
          <a:prstGeom prst="rect">
            <a:avLst/>
          </a:prstGeom>
        </p:spPr>
        <p:txBody>
          <a:bodyPr anchor="t" rtlCol="false" tIns="0" lIns="0" bIns="0" rIns="0">
            <a:spAutoFit/>
          </a:bodyPr>
          <a:lstStyle/>
          <a:p>
            <a:pPr algn="l">
              <a:lnSpc>
                <a:spcPts val="7680"/>
              </a:lnSpc>
            </a:pPr>
            <a:r>
              <a:rPr lang="en-US" sz="7314" b="true">
                <a:solidFill>
                  <a:srgbClr val="EBE8DE"/>
                </a:solidFill>
                <a:latin typeface="Open Sauce Bold"/>
                <a:ea typeface="Open Sauce Bold"/>
                <a:cs typeface="Open Sauce Bold"/>
                <a:sym typeface="Open Sauce Bold"/>
              </a:rPr>
              <a:t>Conclusion</a:t>
            </a:r>
          </a:p>
        </p:txBody>
      </p:sp>
      <p:sp>
        <p:nvSpPr>
          <p:cNvPr name="TextBox 9" id="9"/>
          <p:cNvSpPr txBox="true"/>
          <p:nvPr/>
        </p:nvSpPr>
        <p:spPr>
          <a:xfrm rot="0">
            <a:off x="8447079" y="5955179"/>
            <a:ext cx="9434617" cy="3303121"/>
          </a:xfrm>
          <a:prstGeom prst="rect">
            <a:avLst/>
          </a:prstGeom>
        </p:spPr>
        <p:txBody>
          <a:bodyPr anchor="t" rtlCol="false" tIns="0" lIns="0" bIns="0" rIns="0">
            <a:spAutoFit/>
          </a:bodyPr>
          <a:lstStyle/>
          <a:p>
            <a:pPr algn="l">
              <a:lnSpc>
                <a:spcPts val="3783"/>
              </a:lnSpc>
              <a:spcBef>
                <a:spcPct val="0"/>
              </a:spcBef>
            </a:pPr>
            <a:r>
              <a:rPr lang="en-US" sz="2702">
                <a:solidFill>
                  <a:srgbClr val="EBE8DE"/>
                </a:solidFill>
                <a:latin typeface="Open Sauce Light"/>
                <a:ea typeface="Open Sauce Light"/>
                <a:cs typeface="Open Sauce Light"/>
                <a:sym typeface="Open Sauce Light"/>
              </a:rPr>
              <a:t>M</a:t>
            </a:r>
            <a:r>
              <a:rPr lang="en-US" sz="2702">
                <a:solidFill>
                  <a:srgbClr val="EBE8DE"/>
                </a:solidFill>
                <a:latin typeface="Open Sauce Light"/>
                <a:ea typeface="Open Sauce Light"/>
                <a:cs typeface="Open Sauce Light"/>
                <a:sym typeface="Open Sauce Light"/>
              </a:rPr>
              <a:t>ovieFlix demo</a:t>
            </a:r>
            <a:r>
              <a:rPr lang="en-US" sz="2702">
                <a:solidFill>
                  <a:srgbClr val="EBE8DE"/>
                </a:solidFill>
                <a:latin typeface="Open Sauce Light"/>
                <a:ea typeface="Open Sauce Light"/>
                <a:cs typeface="Open Sauce Light"/>
                <a:sym typeface="Open Sauce Light"/>
              </a:rPr>
              <a:t>nstrates how fundamental data structures and classical algorithms like KMP can deliver high-performance search and discovery from scratch. By eliminating reliance on heavy external libraries and managing memory manually, the system establishes a robust foundation for upcoming fuzzy search, auto-complete, and recommendation modules.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7823265" y="2139474"/>
            <a:ext cx="9335697" cy="4731192"/>
          </a:xfrm>
          <a:prstGeom prst="rect">
            <a:avLst/>
          </a:prstGeom>
        </p:spPr>
        <p:txBody>
          <a:bodyPr anchor="t" rtlCol="false" tIns="0" lIns="0" bIns="0" rIns="0">
            <a:spAutoFit/>
          </a:bodyPr>
          <a:lstStyle/>
          <a:p>
            <a:pPr algn="r">
              <a:lnSpc>
                <a:spcPts val="16641"/>
              </a:lnSpc>
            </a:pPr>
            <a:r>
              <a:rPr lang="en-US" sz="18287">
                <a:solidFill>
                  <a:srgbClr val="EBE8DE"/>
                </a:solidFill>
                <a:latin typeface="Gill Sans Light Shadowed"/>
                <a:ea typeface="Gill Sans Light Shadowed"/>
                <a:cs typeface="Gill Sans Light Shadowed"/>
                <a:sym typeface="Gill Sans Light Shadowed"/>
              </a:rPr>
              <a:t>thank you</a:t>
            </a:r>
          </a:p>
        </p:txBody>
      </p:sp>
      <p:sp>
        <p:nvSpPr>
          <p:cNvPr name="Freeform 4" id="4"/>
          <p:cNvSpPr/>
          <p:nvPr/>
        </p:nvSpPr>
        <p:spPr>
          <a:xfrm flipH="false" flipV="false" rot="2537277">
            <a:off x="-2852082" y="-337427"/>
            <a:ext cx="9796760" cy="7730534"/>
          </a:xfrm>
          <a:custGeom>
            <a:avLst/>
            <a:gdLst/>
            <a:ahLst/>
            <a:cxnLst/>
            <a:rect r="r" b="b" t="t" l="l"/>
            <a:pathLst>
              <a:path h="7730534" w="9796760">
                <a:moveTo>
                  <a:pt x="0" y="0"/>
                </a:moveTo>
                <a:lnTo>
                  <a:pt x="9796760" y="0"/>
                </a:lnTo>
                <a:lnTo>
                  <a:pt x="9796760" y="7730534"/>
                </a:lnTo>
                <a:lnTo>
                  <a:pt x="0" y="77305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2537277">
            <a:off x="4964125" y="6716817"/>
            <a:ext cx="9796760" cy="7730534"/>
          </a:xfrm>
          <a:custGeom>
            <a:avLst/>
            <a:gdLst/>
            <a:ahLst/>
            <a:cxnLst/>
            <a:rect r="r" b="b" t="t" l="l"/>
            <a:pathLst>
              <a:path h="7730534" w="9796760">
                <a:moveTo>
                  <a:pt x="0" y="0"/>
                </a:moveTo>
                <a:lnTo>
                  <a:pt x="9796760" y="0"/>
                </a:lnTo>
                <a:lnTo>
                  <a:pt x="9796760" y="7730534"/>
                </a:lnTo>
                <a:lnTo>
                  <a:pt x="0" y="77305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2562189">
            <a:off x="5673804" y="8167327"/>
            <a:ext cx="9117494" cy="5377300"/>
          </a:xfrm>
          <a:custGeom>
            <a:avLst/>
            <a:gdLst/>
            <a:ahLst/>
            <a:cxnLst/>
            <a:rect r="r" b="b" t="t" l="l"/>
            <a:pathLst>
              <a:path h="5377300" w="9117494">
                <a:moveTo>
                  <a:pt x="9117494" y="0"/>
                </a:moveTo>
                <a:lnTo>
                  <a:pt x="0" y="0"/>
                </a:lnTo>
                <a:lnTo>
                  <a:pt x="0" y="5377300"/>
                </a:lnTo>
                <a:lnTo>
                  <a:pt x="9117494" y="5377300"/>
                </a:lnTo>
                <a:lnTo>
                  <a:pt x="9117494" y="0"/>
                </a:lnTo>
                <a:close/>
              </a:path>
            </a:pathLst>
          </a:custGeom>
          <a:blipFill>
            <a:blip r:embed="rId5"/>
            <a:stretch>
              <a:fillRect l="0" t="-12330" r="0" b="0"/>
            </a:stretch>
          </a:blipFill>
        </p:spPr>
      </p:sp>
      <p:sp>
        <p:nvSpPr>
          <p:cNvPr name="Freeform 7" id="7"/>
          <p:cNvSpPr/>
          <p:nvPr/>
        </p:nvSpPr>
        <p:spPr>
          <a:xfrm flipH="false" flipV="false" rot="2589045">
            <a:off x="-2522086" y="604972"/>
            <a:ext cx="8806950" cy="5502299"/>
          </a:xfrm>
          <a:custGeom>
            <a:avLst/>
            <a:gdLst/>
            <a:ahLst/>
            <a:cxnLst/>
            <a:rect r="r" b="b" t="t" l="l"/>
            <a:pathLst>
              <a:path h="5502299" w="8806950">
                <a:moveTo>
                  <a:pt x="0" y="0"/>
                </a:moveTo>
                <a:lnTo>
                  <a:pt x="8806949" y="0"/>
                </a:lnTo>
                <a:lnTo>
                  <a:pt x="8806949" y="5502300"/>
                </a:lnTo>
                <a:lnTo>
                  <a:pt x="0" y="5502300"/>
                </a:lnTo>
                <a:lnTo>
                  <a:pt x="0" y="0"/>
                </a:lnTo>
                <a:close/>
              </a:path>
            </a:pathLst>
          </a:custGeom>
          <a:blipFill>
            <a:blip r:embed="rId6"/>
            <a:stretch>
              <a:fillRect l="0" t="-6639"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DAHTIU0FJwk</dc:identifier>
  <dcterms:modified xsi:type="dcterms:W3CDTF">2011-08-01T06:04:30Z</dcterms:modified>
  <cp:revision>1</cp:revision>
  <dc:title>Black and White Modern Film Production Presentation</dc:title>
</cp:coreProperties>
</file>